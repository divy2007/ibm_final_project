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p:notesSz cx="51435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Good day everyone. Did you know that across higher education messes and corporate IT parks in India, nearly 30% of prepared food is discarded daily? Today, I am excited to introduce EcoPlate AI: an autonomous multi-agent AI platform powered by edge computer vision that turns food waste bins into real-time supply chain intelligence.</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Institutional messes in India serve thousands of meals daily. However, mess managers face a major blindspot: they know how much total weight is thrown away, but they have no idea whether that weight was expensive Paneer Butter Masala, Steamed Basmati Rice, or Dal. Without itemized data, catering contractors re-order ingredients that students consistently reject.</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EcoPlate AI replaces guess-work with an automated intelligence loop. A low-cost edge camera unit mounted above mess disposal bins captures items as trays are scraped. Using YOLOv8 computer vision fine-tuned on Indian cuisine, our system classifies dish types and estimates volume in real time, delivering actionable procurement reports directly to the catering manager's phone.</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Architecturally, EcoPlate AI is built for speed, privacy, and scalability. Edge micro-processors execute localized YOLOv8 inference so video feeds never leave the campus, maintaining strict privacy and sub-second speed. Data telemetry feeds into a lightweight FastAPI backend that translates image pixels into Rupee amounts and carbon footprint metrics.</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Let's walk through our autonomous agent pipeline. When a plate is scraped, our Vision Agent tags the specific Indian dish and logs its mass and monetary loss in Rupees. The Analytics Agent aggregates these entries against historical trends, weather, and university exam schedules. Finally, our Procurement Agent calculates exact batch reductions and auto-drafts purchasing orders in INR.</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Our business model pairs an initial hardware installation fee per mess bin unit with a recurring SaaS subscription per mess for our AI intelligence engine. Indian campus messes achieve ROI within 60 days by saving lakhs of rupees in monthly food procurement expenses.</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Unlike standard smart scales that require kitchen staff to manually press screen buttons to log food items—creating friction during fast-paced mess cleanup—EcoPlate AI is completely hands-free. Our unfair advantage lies in our proprietary vision dataset fine-tuned on North and South Indian thalis and gravies.</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EcoPlate AI is directly aligned with UN Sustainable Development Goal 12.3 and FSSAI directives. On average, a single campus mess equipped with EcoPlate AI prevents 50 metric tons of food waste per year, directly avoiding 120 metric tons of CO2 equivalent emissions while generating auditable SEBI BRSR ESG reports.</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The market opportunity in India is expanding rapidly due to rising food inflation and corporate ESG mandates. Our serviceable market includes over 25,000 university messes and corporate cafeterias. Our go-to-market strategy focuses on partnering directly with major foodservice management contractors like Sodexo India and Compass Group India.</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Having built our core prototype during the IBM SkillsBuild Masterclass, our next step is deploying live pilot stations across three university messes in Q2. In Q3, we will launch bidirectional ERP connectors for Tally Enterprise and SAP, scaling to 50 commercial mess accounts by Q4.</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Our team combines technical expertise in computer vision and full-stack software development with a passion for sustainability. Developing EcoPlate AI through the IBM SkillsBuild Masterclass has allowed us to implement enterprise agentic design patterns tailored for the Indian market.</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SpPr/>
          <p:nvPr/>
        </p:nvSpPr>
        <p:spPr>
          <a:xfrm>
            <a:off x="685800" y="1143000"/>
            <a:ext cx="3771900" cy="6858000"/>
          </a:xfrm>
        </p:spPr>
        <p:txBody>
          <a:bodyPr/>
          <a:lstStyle/>
          <a:p>
            <a:r>
              <a:rPr lang="en-US" sz="1200" b="1">
                <a:solidFill>
                  <a:srgbClr val="000000"/>
                </a:solidFill>
              </a:rPr>
              <a:t>SPEAKER SCRIPT: Food waste in Indian messes is not an inevitable loss—it is a solvable data problem. EcoPlate AI provides the real-time vision, intelligence, and autonomous workflows necessary to eliminate waste at the source. We invite pilot partners, university mess committees, and mentors to join us in bringing EcoPlate AI to kitchens across India. Thank you!</a:t>
            </a:r>
          </a:p>
        </p:txBody>
      </p:sp>
    </p:spTree>
  </p:cSld>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EcoPlate AI: Food Waste Intelligence Agent</a:t>
            </a:r>
          </a:p>
          <a:p><a:r><a:rPr lang="en-US" sz="1100"><a:solidFill><a:srgbClr val="9CA3AF"/></a:solidFill></a:rPr><a:t>Autonomous Edge Vision &amp; Multi-Agent Supply Chain Optimization for Indian Kitchens</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TITLE SLIDE</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Project Name: EcoPlate AI (India Region)</a:t>
          </a:r>
        </a:p>
        <a:p>
          <a:pPr spaceBefore="100" spaceAfter="100"/>
          <a:r>
            <a:rPr lang="en-US" sz="1500" b="1">
              <a:solidFill><a:srgbClr val="10B981"/></a:solidFill>
            </a:rPr>
            <a:t>• </a:t>
          </a:r>
          <a:r>
            <a:rPr lang="en-US" sz="1500">
              <a:solidFill><a:srgbClr val="F3F4F6"/></a:solidFill>
            </a:rPr>
            <a:t>Aligned UN SDG: SDG 12 - Responsible Consumption &amp; Production (Target 12.3)</a:t>
          </a:r>
        </a:p>
        <a:p>
          <a:pPr spaceBefore="100" spaceAfter="100"/>
          <a:r>
            <a:rPr lang="en-US" sz="1500" b="1">
              <a:solidFill><a:srgbClr val="10B981"/></a:solidFill>
            </a:rPr>
            <a:t>• </a:t>
          </a:r>
          <a:r>
            <a:rPr lang="en-US" sz="1500">
              <a:solidFill><a:srgbClr val="F3F4F6"/></a:solidFill>
            </a:rPr>
            <a:t>National Compliance: FSSAI Save Food Share Food Initiative &amp; SEBI BRSR Framework</a:t>
          </a:r>
        </a:p>
        <a:p>
          <a:pPr spaceBefore="100" spaceAfter="100"/>
          <a:r>
            <a:rPr lang="en-US" sz="1500" b="1">
              <a:solidFill><a:srgbClr val="10B981"/></a:solidFill>
            </a:rPr>
            <a:t>• </a:t>
          </a:r>
          <a:r>
            <a:rPr lang="en-US" sz="1500">
              <a:solidFill><a:srgbClr val="F3F4F6"/></a:solidFill>
            </a:rPr>
            <a:t>Program: IBM SkillsBuild For Academia Masterclass 5</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Transforming Mess Waste Bins into Supply Chain Feedback Loops</a:t>
              </a:r>
            </a:p>
            <a:p>
              <a:pPr spaceBefore="100" spaceAfter="100"/>
              <a:r>
                <a:rPr lang="en-US" sz="1500" b="1">
                  <a:solidFill><a:srgbClr val="06B6D4"/></a:solidFill>
                </a:rPr>
                <a:t>✓ </a:t>
              </a:r>
              <a:r>
                <a:rPr lang="en-US" sz="1500">
                  <a:solidFill><a:srgbClr val="F3F4F6"/></a:solidFill>
                </a:rPr>
                <a:t>Edge YOLOv8 Vision Dish Recognition (&lt;100ms)</a:t>
              </a:r>
            </a:p>
            <a:p>
              <a:pPr spaceBefore="100" spaceAfter="100"/>
              <a:r>
                <a:rPr lang="en-US" sz="1500" b="1">
                  <a:solidFill><a:srgbClr val="06B6D4"/></a:solidFill>
                </a:rPr>
                <a:t>✓ </a:t>
              </a:r>
              <a:r>
                <a:rPr lang="en-US" sz="1500">
                  <a:solidFill><a:srgbClr val="F3F4F6"/></a:solidFill>
                </a:rPr>
                <a:t>Autonomous Procurement Agent &amp; Auto PO Generator</a:t>
              </a:r>
            </a:p>
            <a:p>
              <a:pPr spaceBefore="100" spaceAfter="100"/>
              <a:r>
                <a:rPr lang="en-US" sz="1500" b="1">
                  <a:solidFill><a:srgbClr val="06B6D4"/></a:solidFill>
                </a:rPr>
                <a:t>✓ </a:t>
              </a:r>
              <a:r>
                <a:rPr lang="en-US" sz="1500">
                  <a:solidFill><a:srgbClr val="F3F4F6"/></a:solidFill>
                </a:rPr>
                <a:t>25-30% Reduction in Procurement Expenses</a:t>
              </a:r>
            </a:p></p:txBody>
      </p:sp>
    </p:spTree>
  </p:cSld>
</p:sld>
</file>

<file path=ppt/slides/slide2.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The Problem: Institutional Waste Scale in India</a:t>
            </a:r>
          </a:p>
          <a:p><a:r><a:rPr lang="en-US" sz="1100"><a:solidFill><a:srgbClr val="9CA3AF"/></a:solidFill></a:rPr><a:t>The Invisible Crisis in Indian Campus Dining Halls &amp; Corporate Cafeterias</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PROBLEM SCALE</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68 Million Tons: Annual organic food waste generated across India</a:t>
          </a:r>
        </a:p>
        <a:p>
          <a:pPr spaceBefore="100" spaceAfter="100"/>
          <a:r>
            <a:rPr lang="en-US" sz="1500" b="1">
              <a:solidFill><a:srgbClr val="10B981"/></a:solidFill>
            </a:rPr>
            <a:t>• </a:t>
          </a:r>
          <a:r>
            <a:rPr lang="en-US" sz="1500">
              <a:solidFill><a:srgbClr val="F3F4F6"/></a:solidFill>
            </a:rPr>
            <a:t>25% - 35%: Daily prepared food discarded in university messes &amp; IT parks</a:t>
          </a:r>
        </a:p>
        <a:p>
          <a:pPr spaceBefore="100" spaceAfter="100"/>
          <a:r>
            <a:rPr lang="en-US" sz="1500" b="1">
              <a:solidFill><a:srgbClr val="10B981"/></a:solidFill>
            </a:rPr>
            <a:t>• </a:t>
          </a:r>
          <a:r>
            <a:rPr lang="en-US" sz="1500">
              <a:solidFill><a:srgbClr val="F3F4F6"/></a:solidFill>
            </a:rPr>
            <a:t>INR 1.5 Lakh Crore: Annual financial loss due to institutional food over-preparation</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The Data Blindspot: Mess wardens log total weight without tracking WHICH dishes are wasted</a:t>
              </a:r>
            </a:p>
            <a:p>
              <a:pPr spaceBefore="100" spaceAfter="100"/>
              <a:r>
                <a:rPr lang="en-US" sz="1500" b="1">
                  <a:solidFill><a:srgbClr val="06B6D4"/></a:solidFill>
                </a:rPr>
                <a:t>✓ </a:t>
              </a:r>
              <a:r>
                <a:rPr lang="en-US" sz="1500">
                  <a:solidFill><a:srgbClr val="F3F4F6"/></a:solidFill>
                </a:rPr>
                <a:t>Recurrent Over-Purchasing: Kitchens re-order ingredients (Paneer, Rice, Proteins) rejected by diners</a:t>
              </a:r>
            </a:p>
            <a:p>
              <a:pPr spaceBefore="100" spaceAfter="100"/>
              <a:r>
                <a:rPr lang="en-US" sz="1500" b="1">
                  <a:solidFill><a:srgbClr val="06B6D4"/></a:solidFill>
                </a:rPr>
                <a:t>✓ </a:t>
              </a:r>
              <a:r>
                <a:rPr lang="en-US" sz="1500">
                  <a:solidFill><a:srgbClr val="F3F4F6"/></a:solidFill>
                </a:rPr>
                <a:t>Existing Alternatives Fail: Manual registers are tedious; standard scales lack dish vision</a:t>
              </a:r>
            </a:p></p:txBody>
      </p:sp>
    </p:spTree>
  </p:cSld>
</p:sld>
</file>

<file path=ppt/slides/slide3.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The Solution: Zero-Touch Food Waste Intelligence</a:t>
            </a:r>
          </a:p>
          <a:p><a:r><a:rPr lang="en-US" sz="1100"><a:solidFill><a:srgbClr val="9CA3AF"/></a:solidFill></a:rPr><a:t>Automating Waste Detection and Supply Chain Action</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SOLUTION OVERVIEW</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Overhead Edge Vision: Compact camera running YOLOv8 fine-tuned on regional Indian cuisine</a:t>
          </a:r>
        </a:p>
        <a:p>
          <a:pPr spaceBefore="100" spaceAfter="100"/>
          <a:r>
            <a:rPr lang="en-US" sz="1500" b="1">
              <a:solidFill><a:srgbClr val="10B981"/></a:solidFill>
            </a:rPr>
            <a:t>• </a:t>
          </a:r>
          <a:r>
            <a:rPr lang="en-US" sz="1500">
              <a:solidFill><a:srgbClr val="F3F4F6"/></a:solidFill>
            </a:rPr>
            <a:t>Sub-100ms Inference: Instantly classifies dish types, estimates mass, and maps monetary loss in INR</a:t>
          </a:r>
        </a:p>
        <a:p>
          <a:pPr spaceBefore="100" spaceAfter="100"/>
          <a:r>
            <a:rPr lang="en-US" sz="1500" b="1">
              <a:solidFill><a:srgbClr val="10B981"/></a:solidFill>
            </a:rPr>
            <a:t>• </a:t>
          </a:r>
          <a:r>
            <a:rPr lang="en-US" sz="1500">
              <a:solidFill><a:srgbClr val="F3F4F6"/></a:solidFill>
            </a:rPr>
            <a:t>100% Hands-Free: Kitchen staff change nothing about their daily dish scraping routine</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Autonomous Multi-Agent Engine: Correlates waste with weather, attendance, and exam schedules</a:t>
              </a:r>
            </a:p>
            <a:p>
              <a:pPr spaceBefore="100" spaceAfter="100"/>
              <a:r>
                <a:rPr lang="en-US" sz="1500" b="1">
                  <a:solidFill><a:srgbClr val="06B6D4"/></a:solidFill>
                </a:rPr>
                <a:t>✓ </a:t>
              </a:r>
              <a:r>
                <a:rPr lang="en-US" sz="1500">
                  <a:solidFill><a:srgbClr val="F3F4F6"/></a:solidFill>
                </a:rPr>
                <a:t>Predictive Recipe Scaling: Recommends precise batch reductions for upcoming meal shifts</a:t>
              </a:r>
            </a:p>
            <a:p>
              <a:pPr spaceBefore="100" spaceAfter="100"/>
              <a:r>
                <a:rPr lang="en-US" sz="1500" b="1">
                  <a:solidFill><a:srgbClr val="06B6D4"/></a:solidFill>
                </a:rPr>
                <a:t>✓ </a:t>
              </a:r>
              <a:r>
                <a:rPr lang="en-US" sz="1500">
                  <a:solidFill><a:srgbClr val="F3F4F6"/></a:solidFill>
                </a:rPr>
                <a:t>Automated PO Generation: Drafts purchase order adjustments directly in INR (INR )</a:t>
              </a:r>
            </a:p></p:txBody>
      </p:sp>
    </p:spTree>
  </p:cSld>
</p:sld>
</file>

<file path=ppt/slides/slide4.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System Architecture &amp; AI Tech Stack</a:t>
            </a:r>
          </a:p>
          <a:p><a:r><a:rPr lang="en-US" sz="1100"><a:solidFill><a:srgbClr val="9CA3AF"/></a:solidFill></a:rPr><a:t>Enterprise-Grade Architecture for Speed, Privacy, and Scalability</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ARCHITECTURE</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Edge Vision Layer: Raspberry Pi 5 / NVIDIA Jetson + HD Optical Sensor running YOLOv8</a:t>
          </a:r>
        </a:p>
        <a:p>
          <a:pPr spaceBefore="100" spaceAfter="100"/>
          <a:r>
            <a:rPr lang="en-US" sz="1500" b="1">
              <a:solidFill><a:srgbClr val="10B981"/></a:solidFill>
            </a:rPr>
            <a:t>• </a:t>
          </a:r>
          <a:r>
            <a:rPr lang="en-US" sz="1500">
              <a:solidFill><a:srgbClr val="F3F4F6"/></a:solidFill>
            </a:rPr>
            <a:t>Backend API Core: Asynchronous FastAPI (Python 3.11) handling telemetry streams</a:t>
          </a:r>
        </a:p>
        <a:p>
          <a:pPr spaceBefore="100" spaceAfter="100"/>
          <a:r>
            <a:rPr lang="en-US" sz="1500" b="1">
              <a:solidFill><a:srgbClr val="10B981"/></a:solidFill>
            </a:rPr>
            <a:t>• </a:t>
          </a:r>
          <a:r>
            <a:rPr lang="en-US" sz="1500">
              <a:solidFill><a:srgbClr val="F3F4F6"/></a:solidFill>
            </a:rPr>
            <a:t>Database Engine: TimescaleDB / SQLite time-series store for disposal event records</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Privacy First: Video frames processed locally at the edge node without leaving campus</a:t>
              </a:r>
            </a:p>
            <a:p>
              <a:pPr spaceBefore="100" spaceAfter="100"/>
              <a:r>
                <a:rPr lang="en-US" sz="1500" b="1">
                  <a:solidFill><a:srgbClr val="06B6D4"/></a:solidFill>
                </a:rPr>
                <a:t>✓ </a:t>
              </a:r>
              <a:r>
                <a:rPr lang="en-US" sz="1500">
                  <a:solidFill><a:srgbClr val="F3F4F6"/></a:solidFill>
                </a:rPr>
                <a:t>Multi-Agent Orchestration: Vision Agent -&gt; Analytics Agent -&gt; Procurement Agent</a:t>
              </a:r>
            </a:p>
            <a:p>
              <a:pPr spaceBefore="100" spaceAfter="100"/>
              <a:r>
                <a:rPr lang="en-US" sz="1500" b="1">
                  <a:solidFill><a:srgbClr val="06B6D4"/></a:solidFill>
                </a:rPr>
                <a:t>✓ </a:t>
              </a:r>
              <a:r>
                <a:rPr lang="en-US" sz="1500">
                  <a:solidFill><a:srgbClr val="F3F4F6"/></a:solidFill>
                </a:rPr>
                <a:t>Responsive React Dashboard: Glassmorphic UI presenting financial loss tickers and ESG exports</a:t>
              </a:r>
            </a:p></p:txBody>
      </p:sp>
    </p:spTree>
  </p:cSld>
</p:sld>
</file>

<file path=ppt/slides/slide5.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Autonomous Multi-Agent Workflow in Action</a:t>
            </a:r>
          </a:p>
          <a:p><a:r><a:rPr lang="en-US" sz="1100"><a:solidFill><a:srgbClr val="9CA3AF"/></a:solidFill></a:rPr><a:t>Closed-Loop Automation from Bin Scraping to Purchase Order Draft</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AGENT WORKFLOW</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Step 1 (Vision Agent): Detects 350g discarded Paneer Butter Masala; calculates INR 126 loss</a:t>
          </a:r>
        </a:p>
        <a:p>
          <a:pPr spaceBefore="100" spaceAfter="100"/>
          <a:r>
            <a:rPr lang="en-US" sz="1500" b="1">
              <a:solidFill><a:srgbClr val="10B981"/></a:solidFill>
            </a:rPr>
            <a:t>• </a:t>
          </a:r>
          <a:r>
            <a:rPr lang="en-US" sz="1500">
              <a:solidFill><a:srgbClr val="F3F4F6"/></a:solidFill>
            </a:rPr>
            <a:t>Step 2 (Analytics Agent): Identifies pattern—Paneer waste up 38% on Thursday lunch shifts</a:t>
          </a:r>
        </a:p>
        <a:p>
          <a:pPr spaceBefore="100" spaceAfter="100"/>
          <a:r>
            <a:rPr lang="en-US" sz="1500" b="1">
              <a:solidFill><a:srgbClr val="10B981"/></a:solidFill>
            </a:rPr>
            <a:t>• </a:t>
          </a:r>
          <a:r>
            <a:rPr lang="en-US" sz="1500">
              <a:solidFill><a:srgbClr val="F3F4F6"/></a:solidFill>
            </a:rPr>
            <a:t>Step 3 (Procurement Agent): Calculates -18% recipe prep scaling factor for upcoming shifts</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Step 4 (Auto PO Draft): Auto-drafts updated ingredient purchasing order in INR (INR )</a:t>
              </a:r>
            </a:p>
            <a:p>
              <a:pPr spaceBefore="100" spaceAfter="100"/>
              <a:r>
                <a:rPr lang="en-US" sz="1500" b="1">
                  <a:solidFill><a:srgbClr val="06B6D4"/></a:solidFill>
                </a:rPr>
                <a:t>✓ </a:t>
              </a:r>
              <a:r>
                <a:rPr lang="en-US" sz="1500">
                  <a:solidFill><a:srgbClr val="F3F4F6"/></a:solidFill>
                </a:rPr>
                <a:t>Step 5 (WhatsApp Push Alert): Sends one-click approval prompt to executive chef&apos;s mobile</a:t>
              </a:r>
            </a:p>
            <a:p>
              <a:pPr spaceBefore="100" spaceAfter="100"/>
              <a:r>
                <a:rPr lang="en-US" sz="1500" b="1">
                  <a:solidFill><a:srgbClr val="06B6D4"/></a:solidFill>
                </a:rPr>
                <a:t>✓ </a:t>
              </a:r>
              <a:r>
                <a:rPr lang="en-US" sz="1500">
                  <a:solidFill><a:srgbClr val="F3F4F6"/></a:solidFill>
                </a:rPr>
                <a:t>Zero Human Data Entry: 100% automated feedback loop</a:t>
              </a:r>
            </a:p></p:txBody>
      </p:sp>
    </p:spTree>
  </p:cSld>
</p:sld>
</file>

<file path=ppt/slides/slide6.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Business Model &amp; Lean Canvas Summary</a:t>
            </a:r>
          </a:p>
          <a:p><a:r><a:rPr lang="en-US" sz="1100"><a:solidFill><a:srgbClr val="9CA3AF"/></a:solidFill></a:rPr><a:t>Attractive Enterprise B2B SaaS Model with Rapid Payback</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BUSINESS MODEL</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B2B SaaS Subscription: INR 25,000 - INR 60,000 / mess / month for AI intelligence engine</a:t>
          </a:r>
        </a:p>
        <a:p>
          <a:pPr spaceBefore="100" spaceAfter="100"/>
          <a:r>
            <a:rPr lang="en-US" sz="1500" b="1">
              <a:solidFill><a:srgbClr val="10B981"/></a:solidFill>
            </a:rPr>
            <a:t>• </a:t>
          </a:r>
          <a:r>
            <a:rPr lang="en-US" sz="1500">
              <a:solidFill><a:srgbClr val="F3F4F6"/></a:solidFill>
            </a:rPr>
            <a:t>Hardware Installation Fee: INR 85,000 - INR 1,80,000 upfront per smart bin node</a:t>
          </a:r>
        </a:p>
        <a:p>
          <a:pPr spaceBefore="100" spaceAfter="100"/>
          <a:r>
            <a:rPr lang="en-US" sz="1500" b="1">
              <a:solidFill><a:srgbClr val="10B981"/></a:solidFill>
            </a:rPr>
            <a:t>• </a:t>
          </a:r>
          <a:r>
            <a:rPr lang="en-US" sz="1500">
              <a:solidFill><a:srgbClr val="F3F4F6"/></a:solidFill>
            </a:rPr>
            <a:t>Enterprise ERP Integration: INR 3,50,000+ for SAP / Tally Enterprise connectors</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Rapid Payback Period: Messes achieve 100% ROI within 45 - 60 days</a:t>
              </a:r>
            </a:p>
            <a:p>
              <a:pPr spaceBefore="100" spaceAfter="100"/>
              <a:r>
                <a:rPr lang="en-US" sz="1500" b="1">
                  <a:solidFill><a:srgbClr val="06B6D4"/></a:solidFill>
                </a:rPr>
                <a:t>✓ </a:t>
              </a:r>
              <a:r>
                <a:rPr lang="en-US" sz="1500">
                  <a:solidFill><a:srgbClr val="F3F4F6"/></a:solidFill>
                </a:rPr>
                <a:t>Substantial Customer Savings: Saves INR 1.5 Lakh - INR 4.5 Lakh monthly per campus</a:t>
              </a:r>
            </a:p>
            <a:p>
              <a:pPr spaceBefore="100" spaceAfter="100"/>
              <a:r>
                <a:rPr lang="en-US" sz="1500" b="1">
                  <a:solidFill><a:srgbClr val="06B6D4"/></a:solidFill>
                </a:rPr>
                <a:t>✓ </a:t>
              </a:r>
              <a:r>
                <a:rPr lang="en-US" sz="1500">
                  <a:solidFill><a:srgbClr val="F3F4F6"/></a:solidFill>
                </a:rPr>
                <a:t>Target Customers: University Messes, IT Cafeterias, Hospital Messes, Food Contractors</a:t>
              </a:r>
            </a:p></p:txBody>
      </p:sp>
    </p:spTree>
  </p:cSld>
</p:sld>
</file>

<file path=ppt/slides/slide7.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Unfair Advantage &amp; Competitive Landscape</a:t>
            </a:r>
          </a:p>
          <a:p><a:r><a:rPr lang="en-US" sz="1100"><a:solidFill><a:srgbClr val="9CA3AF"/></a:solidFill></a:rPr><a:t>Outperforming Manual Registers &amp; Standard Weighing Scales</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COMPETITIVE MATRIX</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100% Hands-Free Edge Vision: Zero button presses required by busy kitchen staff</a:t>
          </a:r>
        </a:p>
        <a:p>
          <a:pPr spaceBefore="100" spaceAfter="100"/>
          <a:r>
            <a:rPr lang="en-US" sz="1500" b="1">
              <a:solidFill><a:srgbClr val="10B981"/></a:solidFill>
            </a:rPr>
            <a:t>• </a:t>
          </a:r>
          <a:r>
            <a:rPr lang="en-US" sz="1500">
              <a:solidFill><a:srgbClr val="F3F4F6"/></a:solidFill>
            </a:rPr>
            <a:t>Proprietary Vision Dataset: Fine-tuned on North &amp; South Indian thalis, gravies &amp; breads</a:t>
          </a:r>
        </a:p>
        <a:p>
          <a:pPr spaceBefore="100" spaceAfter="100"/>
          <a:r>
            <a:rPr lang="en-US" sz="1500" b="1">
              <a:solidFill><a:srgbClr val="10B981"/></a:solidFill>
            </a:rPr>
            <a:t>• </a:t>
          </a:r>
          <a:r>
            <a:rPr lang="en-US" sz="1500">
              <a:solidFill><a:srgbClr val="F3F4F6"/></a:solidFill>
            </a:rPr>
            <a:t>Closed-Loop Multi-Agent Action: Connects waste vision directly to purchasing POs</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Manual Registers: High friction, inaccurate, tedious during rush cleanup hours</a:t>
              </a:r>
            </a:p>
            <a:p>
              <a:pPr spaceBefore="100" spaceAfter="100"/>
              <a:r>
                <a:rPr lang="en-US" sz="1500" b="1">
                  <a:solidFill><a:srgbClr val="06B6D4"/></a:solidFill>
                </a:rPr>
                <a:t>✓ </a:t>
              </a:r>
              <a:r>
                <a:rPr lang="en-US" sz="1500">
                  <a:solidFill><a:srgbClr val="F3F4F6"/></a:solidFill>
                </a:rPr>
                <a:t>Smart Weigh Scales (Winnow/Leanpath): Require manual screen button selection per dish</a:t>
              </a:r>
            </a:p>
            <a:p>
              <a:pPr spaceBefore="100" spaceAfter="100"/>
              <a:r>
                <a:rPr lang="en-US" sz="1500" b="1">
                  <a:solidFill><a:srgbClr val="06B6D4"/></a:solidFill>
                </a:rPr>
                <a:t>✓ </a:t>
              </a:r>
              <a:r>
                <a:rPr lang="en-US" sz="1500">
                  <a:solidFill><a:srgbClr val="F3F4F6"/></a:solidFill>
                </a:rPr>
                <a:t>Static Inventory Systems: Lack real-time disposal telemetry &amp; predictive feedback loops</a:t>
              </a:r>
            </a:p></p:txBody>
      </p:sp>
    </p:spTree>
  </p:cSld>
</p:sld>
</file>

<file path=ppt/slides/slide8.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Environmental Impact &amp; SDG 12 Alignment</a:t>
            </a:r>
          </a:p>
          <a:p><a:r><a:rPr lang="en-US" sz="1100"><a:solidFill><a:srgbClr val="9CA3AF"/></a:solidFill></a:rPr><a:t>Driving UN SDG Target 12.3 and National Sustainability Commitments</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SDG 12 &amp; ESG</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UN SDG Target 12.3: Directly driving the goal to halve global per capita food waste by 2030</a:t>
          </a:r>
        </a:p>
        <a:p>
          <a:pPr spaceBefore="100" spaceAfter="100"/>
          <a:r>
            <a:rPr lang="en-US" sz="1500" b="1">
              <a:solidFill><a:srgbClr val="10B981"/></a:solidFill>
            </a:rPr>
            <a:t>• </a:t>
          </a:r>
          <a:r>
            <a:rPr lang="en-US" sz="1500">
              <a:solidFill><a:srgbClr val="F3F4F6"/></a:solidFill>
            </a:rPr>
            <a:t>50 Metric Tons/Year: Organic waste prevented per institutional mess site</a:t>
          </a:r>
        </a:p>
        <a:p>
          <a:pPr spaceBefore="100" spaceAfter="100"/>
          <a:r>
            <a:rPr lang="en-US" sz="1500" b="1">
              <a:solidFill><a:srgbClr val="10B981"/></a:solidFill>
            </a:rPr>
            <a:t>• </a:t>
          </a:r>
          <a:r>
            <a:rPr lang="en-US" sz="1500">
              <a:solidFill><a:srgbClr val="F3F4F6"/></a:solidFill>
            </a:rPr>
            <a:t>120 Metric Tons CO2e: Methane emissions avoided per campus mess annually</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National Compliance: Aligned with FSSAI Save Food Share Food Initiative</a:t>
              </a:r>
            </a:p>
            <a:p>
              <a:pPr spaceBefore="100" spaceAfter="100"/>
              <a:r>
                <a:rPr lang="en-US" sz="1500" b="1">
                  <a:solidFill><a:srgbClr val="06B6D4"/></a:solidFill>
                </a:rPr>
                <a:t>✓ </a:t>
              </a:r>
              <a:r>
                <a:rPr lang="en-US" sz="1500">
                  <a:solidFill><a:srgbClr val="F3F4F6"/></a:solidFill>
                </a:rPr>
                <a:t>SEBI BRSR Reporting: Generates auditable ESG data reports for corporate disclosures</a:t>
              </a:r>
            </a:p>
            <a:p>
              <a:pPr spaceBefore="100" spaceAfter="100"/>
              <a:r>
                <a:rPr lang="en-US" sz="1500" b="1">
                  <a:solidFill><a:srgbClr val="06B6D4"/></a:solidFill>
                </a:rPr>
                <a:t>✓ </a:t>
              </a:r>
              <a:r>
                <a:rPr lang="en-US" sz="1500">
                  <a:solidFill><a:srgbClr val="F3F4F6"/></a:solidFill>
                </a:rPr>
                <a:t>Water Conservation: Saves ~4.2 Million Liters of embedded agricultural water annually</a:t>
              </a:r>
            </a:p></p:txBody>
      </p:sp>
    </p:spTree>
  </p:cSld>
</p:sld>
</file>

<file path=ppt/slides/slide9.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Market Opportunity in India &amp; GTM Strategy</a:t>
            </a:r>
          </a:p>
          <a:p><a:r><a:rPr lang="en-US" sz="1100"><a:solidFill><a:srgbClr val="9CA3AF"/></a:solidFill></a:rPr><a:t>Capturing the Rapidly Growing Institutional Catering Market</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MARKET &amp; GTM</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TAM: INR 35,000 Cr Commercial Mess &amp; Kitchen Management Market in India</a:t>
          </a:r>
        </a:p>
        <a:p>
          <a:pPr spaceBefore="100" spaceAfter="100"/>
          <a:r>
            <a:rPr lang="en-US" sz="1500" b="1">
              <a:solidFill><a:srgbClr val="10B981"/></a:solidFill>
            </a:rPr>
            <a:t>• </a:t>
          </a:r>
          <a:r>
            <a:rPr lang="en-US" sz="1500">
              <a:solidFill><a:srgbClr val="F3F4F6"/></a:solidFill>
            </a:rPr>
            <a:t>SAM: INR 3,200 Cr Institutional Mess Analytics Market in Tier-1 &amp; Tier-2 Cities</a:t>
          </a:r>
        </a:p>
        <a:p>
          <a:pPr spaceBefore="100" spaceAfter="100"/>
          <a:r>
            <a:rPr lang="en-US" sz="1500" b="1">
              <a:solidFill><a:srgbClr val="10B981"/></a:solidFill>
            </a:rPr>
            <a:t>• </a:t>
          </a:r>
          <a:r>
            <a:rPr lang="en-US" sz="1500">
              <a:solidFill><a:srgbClr val="F3F4F6"/></a:solidFill>
            </a:rPr>
            <a:t>SOM: INR 85 Cr Higher Ed &amp; IT Park Cafeterias in key hubs (Bengaluru, Hyderabad, NCR)</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Enterprise Distribution: Direct partnerships with catering giants (Sodexo India, Compass Group)</a:t>
              </a:r>
            </a:p>
            <a:p>
              <a:pPr spaceBefore="100" spaceAfter="100"/>
              <a:r>
                <a:rPr lang="en-US" sz="1500" b="1">
                  <a:solidFill><a:srgbClr val="06B6D4"/></a:solidFill>
                </a:rPr>
                <a:t>✓ </a:t>
              </a:r>
              <a:r>
                <a:rPr lang="en-US" sz="1500">
                  <a:solidFill><a:srgbClr val="F3F4F6"/></a:solidFill>
                </a:rPr>
                <a:t>Campus Green Initiatives: University Mess Committee referral pilots</a:t>
              </a:r>
            </a:p>
            <a:p>
              <a:pPr spaceBefore="100" spaceAfter="100"/>
              <a:r>
                <a:rPr lang="en-US" sz="1500" b="1">
                  <a:solidFill><a:srgbClr val="06B6D4"/></a:solidFill>
                </a:rPr>
                <a:t>✓ </a:t>
              </a:r>
              <a:r>
                <a:rPr lang="en-US" sz="1500">
                  <a:solidFill><a:srgbClr val="F3F4F6"/></a:solidFill>
                </a:rPr>
                <a:t>IBM Ecosystem Acceleration: Showcased via IBM Sustainability &amp; SkillsBuild networks</a:t>
              </a:r>
            </a:p></p:txBody>
      </p:sp>
    </p:spTree>
  </p:cSld>
</p:sld>
</file>

<file path=ppt/slides/slide10.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Product Roadmap &amp; Scalability Milestones</a:t>
            </a:r>
          </a:p>
          <a:p><a:r><a:rPr lang="en-US" sz="1100"><a:solidFill><a:srgbClr val="9CA3AF"/></a:solidFill></a:rPr><a:t>Clear Execution Path from Masterclass Prototype to Commercial Scale</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ROADMAP</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Q1 (Current Phase): Core YOLOv8 Indian dataset &amp; Multi-Agent prototype (IBM Masterclass 5)</a:t>
          </a:r>
        </a:p>
        <a:p>
          <a:pPr spaceBefore="100" spaceAfter="100"/>
          <a:r>
            <a:rPr lang="en-US" sz="1500" b="1">
              <a:solidFill><a:srgbClr val="10B981"/></a:solidFill>
            </a:rPr>
            <a:t>• </a:t>
          </a:r>
          <a:r>
            <a:rPr lang="en-US" sz="1500">
              <a:solidFill><a:srgbClr val="F3F4F6"/></a:solidFill>
            </a:rPr>
            <a:t>Q2 (Pilot Deployment): Launch 3 live campus mess pilots in higher ed dining halls</a:t>
          </a:r>
        </a:p>
        <a:p>
          <a:pPr spaceBefore="100" spaceAfter="100"/>
          <a:r>
            <a:rPr lang="en-US" sz="1500" b="1">
              <a:solidFill><a:srgbClr val="10B981"/></a:solidFill>
            </a:rPr>
            <a:t>• </a:t>
          </a:r>
          <a:r>
            <a:rPr lang="en-US" sz="1500">
              <a:solidFill><a:srgbClr val="F3F4F6"/></a:solidFill>
            </a:rPr>
            <a:t>Q3 (Enterprise Integration): Bidirectional ERP connectors for SAP and Tally Enterprise</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Q4 (Market Scaling): Commercial SaaS rollout across 50 mess accounts in Bengaluru &amp; NCR</a:t>
              </a:r>
            </a:p>
            <a:p>
              <a:pPr spaceBefore="100" spaceAfter="100"/>
              <a:r>
                <a:rPr lang="en-US" sz="1500" b="1">
                  <a:solidFill><a:srgbClr val="06B6D4"/></a:solidFill>
                </a:rPr>
                <a:t>✓ </a:t>
              </a:r>
              <a:r>
                <a:rPr lang="en-US" sz="1500">
                  <a:solidFill><a:srgbClr val="F3F4F6"/></a:solidFill>
                </a:rPr>
                <a:t>Continuous AI Fine-Tuning: Expanding dataset coverage to regional South/East Indian dishes</a:t>
              </a:r>
            </a:p>
            <a:p>
              <a:pPr spaceBefore="100" spaceAfter="100"/>
              <a:r>
                <a:rPr lang="en-US" sz="1500" b="1">
                  <a:solidFill><a:srgbClr val="06B6D4"/></a:solidFill>
                </a:rPr>
                <a:t>✓ </a:t>
              </a:r>
              <a:r>
                <a:rPr lang="en-US" sz="1500">
                  <a:solidFill><a:srgbClr val="F3F4F6"/></a:solidFill>
                </a:rPr>
                <a:t>Hardware Optimization: Low-cost turnkey camera kit for plug-and-play installation</a:t>
              </a:r>
            </a:p></p:txBody>
      </p:sp>
    </p:spTree>
  </p:cSld>
</p:sld>
</file>

<file path=ppt/slides/slide11.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Team Credentials &amp; IBM Ecosystem Synergy</a:t>
            </a:r>
          </a:p>
          <a:p><a:r><a:rPr lang="en-US" sz="1100"><a:solidFill><a:srgbClr val="9CA3AF"/></a:solidFill></a:rPr><a:t>Building Enterprise-Grade AI Solutions with Proven Frameworks</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TEAM &amp; IBM SYNERGY</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Core Team Expertise: Computer Vision, Full-Stack Engineering &amp; Sustainability Operations</a:t>
          </a:r>
        </a:p>
        <a:p>
          <a:pPr spaceBefore="100" spaceAfter="100"/>
          <a:r>
            <a:rPr lang="en-US" sz="1500" b="1">
              <a:solidFill><a:srgbClr val="10B981"/></a:solidFill>
            </a:rPr>
            <a:t>• </a:t>
          </a:r>
          <a:r>
            <a:rPr lang="en-US" sz="1500">
              <a:solidFill><a:srgbClr val="F3F4F6"/></a:solidFill>
            </a:rPr>
            <a:t>Built on IBM Principles: Designed following IBM Agentic AI Architecture guidelines</a:t>
          </a:r>
        </a:p>
        <a:p>
          <a:pPr spaceBefore="100" spaceAfter="100"/>
          <a:r>
            <a:rPr lang="en-US" sz="1500" b="1">
              <a:solidFill><a:srgbClr val="10B981"/></a:solidFill>
            </a:rPr>
            <a:t>• </a:t>
          </a:r>
          <a:r>
            <a:rPr lang="en-US" sz="1500">
              <a:solidFill><a:srgbClr val="F3F4F6"/></a:solidFill>
            </a:rPr>
            <a:t>Domain Focus: Tailored specifically for Indian institutional food service operational needs</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Serverless Backend: Async Python architecture ensuring high concurrency &amp; reliability</a:t>
              </a:r>
            </a:p>
            <a:p>
              <a:pPr spaceBefore="100" spaceAfter="100"/>
              <a:r>
                <a:rPr lang="en-US" sz="1500" b="1">
                  <a:solidFill><a:srgbClr val="06B6D4"/></a:solidFill>
                </a:rPr>
                <a:t>✓ </a:t>
              </a:r>
              <a:r>
                <a:rPr lang="en-US" sz="1500">
                  <a:solidFill><a:srgbClr val="F3F4F6"/></a:solidFill>
                </a:rPr>
                <a:t>Mentorship &amp; Guidance: Developed through IBM SkillsBuild Masterclass 5 program</a:t>
              </a:r>
            </a:p>
            <a:p>
              <a:pPr spaceBefore="100" spaceAfter="100"/>
              <a:r>
                <a:rPr lang="en-US" sz="1500" b="1">
                  <a:solidFill><a:srgbClr val="06B6D4"/></a:solidFill>
                </a:rPr>
                <a:t>✓ </a:t>
              </a:r>
              <a:r>
                <a:rPr lang="en-US" sz="1500">
                  <a:solidFill><a:srgbClr val="F3F4F6"/></a:solidFill>
                </a:rPr>
                <a:t>Ecosystem Ready: Prepared for integration with enterprise cloud platforms</a:t>
              </a:r>
            </a:p></p:txBody>
      </p:sp>
    </p:spTree>
  </p:cSld>
</p:sld>
</file>

<file path=ppt/slides/slide12.xml><?xml version="1.0" encoding="UTF-8" standalone="yes"?>
<p:sld xmlns:a="http://schemas.openxmlformats.org/drawingml/2006/main" xmlns:r="http://schemas.openxmlformats.org/officeDocument/2006/relationships" xmlns:p="http://schemas.openxmlformats.org/presentationml/2006/main">
  <p:cSld>
    <p:bg>
      <p:bgPr>
        <a:solidFill><a:srgbClr val="0D1117"/></a:solidFill>
      </p:bgPr>
    </p:bg>
    <p:spTree>
      <p:nvGrpSpPr><p:cNvPr id="1" name=""/><p:cNvGrpSpPr/><p:nvPr/></p:nvGrpSpPr>
      <p:grpSpPr><a:xfrm><a:off x="0" y="0"/><a:ext cx="0" cy="0"/><a:chOff x="0" y="0"/><a:chExt cx="0" cy="0"/></a:xfrm></p:grpSpPr>
      
      <!-- Header Banner Shape -->
      <p:sp>
        <p:nvSpPr><p:cNvPr id="10" name="Header Banner"/><p:cSpPr/><p:nvPr/></p:nvSpPr>
        <p:spPr>
          <a:xfrm><a:off x="500000" y="300000"/><a:ext cx="8144000" cy="850000"/></a:ext>
          <a:prstGeom prst="rect"><a:avLst/></a:prstGeom>
          <a:solidFill><a:srgbClr val="161B26"/></a:solidFill>
          <a:ln w="9525"><a:solidFill><a:srgbClr val="10B981"/></a:solidFill></a:ln>
        </p:spPr>
      </p:sp>
      
      <!-- Slide Title & Subtitle -->
      <p:sp>
        <p:nvSpPr><p:cNvPr id="2" name="Title 1"/><p:cSpPr/><p:nvPr/></p:nvSpPr>
        <p:spPr><a:xfrm><a:off x="650000" y="360000"/><a:ext cx="6500000" cy="750000"/></a:xfrm></p:spPr>
        <p:txBody>
          <a:bodyPr/>
          <a:lstStyle/>
          <a:p>
            <a:r>
              <a:rPr lang="en-US" sz="2400" b="1">
                <a:solidFill><a:srgbClr val="10B981"/></a:solidFill>
              </a:rPr>
              <a:t>Conclusion &amp; Pilot Call to Action</a:t>
            </a:r>
          </a:p>
          <a:p><a:r><a:rPr lang="en-US" sz="1100"><a:solidFill><a:srgbClr val="9CA3AF"/></a:solidFill></a:rPr><a:t>Partner with EcoPlate AI to Eliminate Institutional Food Waste</a:t></a:r></a:p>
        </p:txBody>
      </p:sp>
      
      <!-- Badge Pill Shape -->
      <p:sp>
        <p:nvSpPr><p:cNvPr id="11" name="Badge"/><p:cSpPr/><p:nvPr/></p:nvSpPr>
        <p:spPr>
          <a:xfrm><a:off x="7200000" y="450000"/><a:ext cx="1300000" cy="350000"/></a:xfrm>
          <a:prstGeom prst="roundRect"><a:avLst><a:gd name="a" val="25000"/></a:avLst></a:prstGeom>
          <a:solidFill><a:srgbClr val="06B6D4"/></a:solidFill>
        </p:spPr>
        <p:txBody>
          <a:bodyPr lIns="0" rIns="0" tIns="0" bIns="0" anchor="ctr"/>
          <a:lstStyle/>
          <a:p><a:pPr algn="ctr"/><a:r><a:rPr lang="en-US" sz="1000" b="1"><a:solidFill><a:srgbClr val="000000"/></a:solidFill></a:rPr><a:t>CALL TO ACTION</a:t></a:r></a:p>
        </p:txBody>
      </p:sp>
      
      <!-- Left Card Container -->
      <p:sp>
        <p:nvSpPr><p:cNvPr id="3" name="Card Left"/><p:cSpPr/><p:nvPr/></p:nvSpPr>
        <p:spPr>
          <a:xfrm><a:off x="500000" y="1400000"/><a:ext cx="3900000" cy="3400000"/></a:xfrm>
          <a:prstGeom prst="roundRect"><a:avLst><a:gd name="a" val="12000"/></a:avLst></a:prstGeom>
          <a:solidFill><a:srgbClr val="161B26"/></a:solidFill>
          <a:ln w="12700"><a:solidFill><a:srgbClr val="10B981"/></a:solidFill></a:ln>
        </p:spPr>
      </p:sp>

      <!-- Left Text -->
      <p:sp>
        <p:nvSpPr><p:cNvPr id="4" name="Left Text"/><p:cSpPr/><p:nvPr/></p:nvSpPr>
        <p:spPr><a:xfrm><a:off x="600000" y="1500000"/><a:ext cx="3700000" cy="3200000"/></a:xfrm></p:spPr>
        <p:txBody><a:bodyPr/><a:lstStyle/>
        <a:p>
          <a:pPr spaceBefore="100" spaceAfter="100"/>
          <a:r>
            <a:rPr lang="en-US" sz="1500" b="1">
              <a:solidFill><a:srgbClr val="10B981"/></a:solidFill>
            </a:rPr>
            <a:t>• </a:t>
          </a:r>
          <a:r>
            <a:rPr lang="en-US" sz="1500">
              <a:solidFill><a:srgbClr val="F3F4F6"/></a:solidFill>
            </a:rPr>
            <a:t>Food Waste is a Solvable Data Problem: EcoPlate AI eliminates waste at the source</a:t>
          </a:r>
        </a:p>
        <a:p>
          <a:pPr spaceBefore="100" spaceAfter="100"/>
          <a:r>
            <a:rPr lang="en-US" sz="1500" b="1">
              <a:solidFill><a:srgbClr val="10B981"/></a:solidFill>
            </a:rPr>
            <a:t>• </a:t>
          </a:r>
          <a:r>
            <a:rPr lang="en-US" sz="1500">
              <a:solidFill><a:srgbClr val="F3F4F6"/></a:solidFill>
            </a:rPr>
            <a:t>Our 2030 Vision: Preventing 100,000+ Tons of food waste across Indian messes</a:t>
          </a:r>
        </a:p>
        <a:p>
          <a:pPr spaceBefore="100" spaceAfter="100"/>
          <a:r>
            <a:rPr lang="en-US" sz="1500" b="1">
              <a:solidFill><a:srgbClr val="10B981"/></a:solidFill>
            </a:rPr>
            <a:t>• </a:t>
          </a:r>
          <a:r>
            <a:rPr lang="en-US" sz="1500">
              <a:solidFill><a:srgbClr val="F3F4F6"/></a:solidFill>
            </a:rPr>
            <a:t>Financial Impact: Saving Indian institutions INR 500 Cr+ in cumulative procurement spend</a:t>
          </a:r>
        </a:p></p:txBody>
      </p:sp>
      
      
      <!-- Right Card Container -->
      <p:sp>
        <p:nvSpPr><p:cNvPr id="5" name="Card Right"/><p:cSpPr/><p:nvPr/></p:nvSpPr>
        <p:spPr>
          <a:xfrm><a:off x="4700000" y="1400000"/><a:ext cx="3900000" cy="3400000"/></a:xfrm>
          <a:prstGeom prst="roundRect"><a:avLst><a:gd name="a" val="12000"/></a:avLst></a:prstGeom>
          <a:solidFill><a:srgbClr val="161B26"/></a:solidFill>
          <a:ln w="12700"><a:solidFill><a:srgbClr val="06B6D4"/></a:solidFill></a:ln>
        </p:spPr>
      </p:sp>
      <p:sp>
        <p:nvSpPr><p:cNvPr id="6" name="Right Text"/><p:cSpPr/><p:nvPr/></p:nvSpPr>
        <p:spPr><a:xfrm><a:off x="4800000" y="1500000"/><a:ext cx="3700000" cy="3200000"/></a:xfrm></p:spPr>
        <p:txBody><a:bodyPr/><a:lstStyle/>
            <a:p>
              <a:pPr spaceBefore="100" spaceAfter="100"/>
              <a:r>
                <a:rPr lang="en-US" sz="1500" b="1">
                  <a:solidFill><a:srgbClr val="06B6D4"/></a:solidFill>
                </a:rPr>
                <a:t>✓ </a:t>
              </a:r>
              <a:r>
                <a:rPr lang="en-US" sz="1500">
                  <a:solidFill><a:srgbClr val="F3F4F6"/></a:solidFill>
                </a:rPr>
                <a:t>Now Accepting Pilot Partners: Deploy EcoPlate AI in your campus mess or corporate cafeteria</a:t>
              </a:r>
            </a:p>
            <a:p>
              <a:pPr spaceBefore="100" spaceAfter="100"/>
              <a:r>
                <a:rPr lang="en-US" sz="1500" b="1">
                  <a:solidFill><a:srgbClr val="06B6D4"/></a:solidFill>
                </a:rPr>
                <a:t>✓ </a:t>
              </a:r>
              <a:r>
                <a:rPr lang="en-US" sz="1500">
                  <a:solidFill><a:srgbClr val="F3F4F6"/></a:solidFill>
                </a:rPr>
                <a:t>Web Platform Live: http://127.0.0.1:8000</a:t>
              </a:r>
            </a:p>
            <a:p>
              <a:pPr spaceBefore="100" spaceAfter="100"/>
              <a:r>
                <a:rPr lang="en-US" sz="1500" b="1">
                  <a:solidFill><a:srgbClr val="06B6D4"/></a:solidFill>
                </a:rPr>
                <a:t>✓ </a:t>
              </a:r>
              <a:r>
                <a:rPr lang="en-US" sz="1500">
                  <a:solidFill><a:srgbClr val="F3F4F6"/></a:solidFill>
                </a:rPr>
                <a:t>Contact Email: pilots@ecoplate.ai | Website: www.ecoplate.ai</a:t>
              </a:r>
            </a:p></p:txBody>
      </p:sp>
    </p:spTree>
  </p:cSld>
</p:sld>
</file>